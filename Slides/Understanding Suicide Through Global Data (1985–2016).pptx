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8" r:id="rId3"/>
    <p:sldId id="259" r:id="rId4"/>
    <p:sldId id="260" r:id="rId5"/>
    <p:sldId id="262" r:id="rId6"/>
    <p:sldId id="263" r:id="rId7"/>
    <p:sldId id="264" r:id="rId8"/>
    <p:sldId id="265" r:id="rId9"/>
    <p:sldId id="266"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78120" autoAdjust="0"/>
  </p:normalViewPr>
  <p:slideViewPr>
    <p:cSldViewPr snapToGrid="0">
      <p:cViewPr varScale="1">
        <p:scale>
          <a:sx n="67" d="100"/>
          <a:sy n="67" d="100"/>
        </p:scale>
        <p:origin x="162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Ekman" userId="ae177072e7f75c66" providerId="LiveId" clId="{EB6AF4C0-94C8-478B-8A5C-85B1810068C1}"/>
    <pc:docChg chg="modSld">
      <pc:chgData name="Eric Ekman" userId="ae177072e7f75c66" providerId="LiveId" clId="{EB6AF4C0-94C8-478B-8A5C-85B1810068C1}" dt="2025-12-02T22:29:36.921" v="64" actId="20577"/>
      <pc:docMkLst>
        <pc:docMk/>
      </pc:docMkLst>
      <pc:sldChg chg="modNotesTx">
        <pc:chgData name="Eric Ekman" userId="ae177072e7f75c66" providerId="LiveId" clId="{EB6AF4C0-94C8-478B-8A5C-85B1810068C1}" dt="2025-12-02T22:29:36.921" v="64" actId="20577"/>
        <pc:sldMkLst>
          <pc:docMk/>
          <pc:sldMk cId="77240212" sldId="260"/>
        </pc:sldMkLst>
      </pc:sldChg>
    </pc:docChg>
  </pc:docChgLst>
  <pc:docChgLst>
    <pc:chgData name="Eric Ekman" userId="ae177072e7f75c66" providerId="LiveId" clId="{CDB921CD-DB32-47F1-808D-E9C3CA745743}"/>
    <pc:docChg chg="custSel addSld delSld modSld sldOrd">
      <pc:chgData name="Eric Ekman" userId="ae177072e7f75c66" providerId="LiveId" clId="{CDB921CD-DB32-47F1-808D-E9C3CA745743}" dt="2025-12-02T16:01:01.034" v="3139" actId="20577"/>
      <pc:docMkLst>
        <pc:docMk/>
      </pc:docMkLst>
      <pc:sldChg chg="modNotesTx">
        <pc:chgData name="Eric Ekman" userId="ae177072e7f75c66" providerId="LiveId" clId="{CDB921CD-DB32-47F1-808D-E9C3CA745743}" dt="2025-11-24T14:56:04.646" v="183" actId="20577"/>
        <pc:sldMkLst>
          <pc:docMk/>
          <pc:sldMk cId="572101116" sldId="256"/>
        </pc:sldMkLst>
      </pc:sldChg>
      <pc:sldChg chg="modSp new mod modNotesTx">
        <pc:chgData name="Eric Ekman" userId="ae177072e7f75c66" providerId="LiveId" clId="{CDB921CD-DB32-47F1-808D-E9C3CA745743}" dt="2025-11-25T16:45:24.847" v="2568" actId="20577"/>
        <pc:sldMkLst>
          <pc:docMk/>
          <pc:sldMk cId="165273379" sldId="258"/>
        </pc:sldMkLst>
        <pc:spChg chg="mod">
          <ac:chgData name="Eric Ekman" userId="ae177072e7f75c66" providerId="LiveId" clId="{CDB921CD-DB32-47F1-808D-E9C3CA745743}" dt="2025-11-24T15:44:21.244" v="569" actId="20577"/>
          <ac:spMkLst>
            <pc:docMk/>
            <pc:sldMk cId="165273379" sldId="258"/>
            <ac:spMk id="2" creationId="{E2252736-936B-4AE9-7CF4-17748B627A41}"/>
          </ac:spMkLst>
        </pc:spChg>
        <pc:spChg chg="mod">
          <ac:chgData name="Eric Ekman" userId="ae177072e7f75c66" providerId="LiveId" clId="{CDB921CD-DB32-47F1-808D-E9C3CA745743}" dt="2025-11-24T15:46:17.111" v="765" actId="20577"/>
          <ac:spMkLst>
            <pc:docMk/>
            <pc:sldMk cId="165273379" sldId="258"/>
            <ac:spMk id="3" creationId="{6FB31059-85B3-3481-B27F-B2F2950E94B0}"/>
          </ac:spMkLst>
        </pc:spChg>
      </pc:sldChg>
      <pc:sldChg chg="modSp new mod modNotesTx">
        <pc:chgData name="Eric Ekman" userId="ae177072e7f75c66" providerId="LiveId" clId="{CDB921CD-DB32-47F1-808D-E9C3CA745743}" dt="2025-11-30T12:42:48.993" v="2967" actId="20577"/>
        <pc:sldMkLst>
          <pc:docMk/>
          <pc:sldMk cId="1269598289" sldId="259"/>
        </pc:sldMkLst>
        <pc:spChg chg="mod">
          <ac:chgData name="Eric Ekman" userId="ae177072e7f75c66" providerId="LiveId" clId="{CDB921CD-DB32-47F1-808D-E9C3CA745743}" dt="2025-11-24T15:46:41.474" v="827" actId="20577"/>
          <ac:spMkLst>
            <pc:docMk/>
            <pc:sldMk cId="1269598289" sldId="259"/>
            <ac:spMk id="2" creationId="{D3C53E8A-EB28-2DF9-C697-79F3A2F808A2}"/>
          </ac:spMkLst>
        </pc:spChg>
        <pc:spChg chg="mod">
          <ac:chgData name="Eric Ekman" userId="ae177072e7f75c66" providerId="LiveId" clId="{CDB921CD-DB32-47F1-808D-E9C3CA745743}" dt="2025-11-24T15:47:22.765" v="847"/>
          <ac:spMkLst>
            <pc:docMk/>
            <pc:sldMk cId="1269598289" sldId="259"/>
            <ac:spMk id="3" creationId="{B151C109-20D5-262C-4BC3-1AC0F0CF4ADB}"/>
          </ac:spMkLst>
        </pc:spChg>
      </pc:sldChg>
      <pc:sldChg chg="addSp delSp modSp new mod modNotesTx">
        <pc:chgData name="Eric Ekman" userId="ae177072e7f75c66" providerId="LiveId" clId="{CDB921CD-DB32-47F1-808D-E9C3CA745743}" dt="2025-12-02T16:01:01.034" v="3139" actId="20577"/>
        <pc:sldMkLst>
          <pc:docMk/>
          <pc:sldMk cId="77240212" sldId="260"/>
        </pc:sldMkLst>
        <pc:spChg chg="mod">
          <ac:chgData name="Eric Ekman" userId="ae177072e7f75c66" providerId="LiveId" clId="{CDB921CD-DB32-47F1-808D-E9C3CA745743}" dt="2025-11-24T15:49:02.598" v="931" actId="14100"/>
          <ac:spMkLst>
            <pc:docMk/>
            <pc:sldMk cId="77240212" sldId="260"/>
            <ac:spMk id="2" creationId="{193B8B17-0D81-95AF-C7A2-4A4B52194D33}"/>
          </ac:spMkLst>
        </pc:spChg>
        <pc:picChg chg="add mod">
          <ac:chgData name="Eric Ekman" userId="ae177072e7f75c66" providerId="LiveId" clId="{CDB921CD-DB32-47F1-808D-E9C3CA745743}" dt="2025-11-24T15:48:52.758" v="930" actId="1076"/>
          <ac:picMkLst>
            <pc:docMk/>
            <pc:sldMk cId="77240212" sldId="260"/>
            <ac:picMk id="4" creationId="{E31E232E-B84D-580C-6985-A541889B6FA6}"/>
          </ac:picMkLst>
        </pc:picChg>
      </pc:sldChg>
      <pc:sldChg chg="addSp delSp modSp add mod ord modNotesTx">
        <pc:chgData name="Eric Ekman" userId="ae177072e7f75c66" providerId="LiveId" clId="{CDB921CD-DB32-47F1-808D-E9C3CA745743}" dt="2025-11-25T16:48:09.986" v="2960"/>
        <pc:sldMkLst>
          <pc:docMk/>
          <pc:sldMk cId="3676716584" sldId="261"/>
        </pc:sldMkLst>
        <pc:spChg chg="mod">
          <ac:chgData name="Eric Ekman" userId="ae177072e7f75c66" providerId="LiveId" clId="{CDB921CD-DB32-47F1-808D-E9C3CA745743}" dt="2025-11-24T15:51:25.889" v="1042" actId="20577"/>
          <ac:spMkLst>
            <pc:docMk/>
            <pc:sldMk cId="3676716584" sldId="261"/>
            <ac:spMk id="2" creationId="{82863E6D-6490-3C5D-1BA9-9D5B1D33A0C6}"/>
          </ac:spMkLst>
        </pc:spChg>
        <pc:picChg chg="mod">
          <ac:chgData name="Eric Ekman" userId="ae177072e7f75c66" providerId="LiveId" clId="{CDB921CD-DB32-47F1-808D-E9C3CA745743}" dt="2025-11-24T15:51:18.453" v="1040" actId="14826"/>
          <ac:picMkLst>
            <pc:docMk/>
            <pc:sldMk cId="3676716584" sldId="261"/>
            <ac:picMk id="4" creationId="{8AA74546-01F8-F638-413A-D40A508FCBC3}"/>
          </ac:picMkLst>
        </pc:picChg>
      </pc:sldChg>
      <pc:sldChg chg="modSp add mod modNotesTx">
        <pc:chgData name="Eric Ekman" userId="ae177072e7f75c66" providerId="LiveId" clId="{CDB921CD-DB32-47F1-808D-E9C3CA745743}" dt="2025-11-25T16:47:51.116" v="2956" actId="20577"/>
        <pc:sldMkLst>
          <pc:docMk/>
          <pc:sldMk cId="4233459952" sldId="262"/>
        </pc:sldMkLst>
        <pc:spChg chg="mod">
          <ac:chgData name="Eric Ekman" userId="ae177072e7f75c66" providerId="LiveId" clId="{CDB921CD-DB32-47F1-808D-E9C3CA745743}" dt="2025-11-24T15:52:38.143" v="1365" actId="20577"/>
          <ac:spMkLst>
            <pc:docMk/>
            <pc:sldMk cId="4233459952" sldId="262"/>
            <ac:spMk id="2" creationId="{C3420F3C-055B-24FD-8A0E-0B5A7C731774}"/>
          </ac:spMkLst>
        </pc:spChg>
        <pc:picChg chg="mod">
          <ac:chgData name="Eric Ekman" userId="ae177072e7f75c66" providerId="LiveId" clId="{CDB921CD-DB32-47F1-808D-E9C3CA745743}" dt="2025-11-24T15:52:49.672" v="1366" actId="14826"/>
          <ac:picMkLst>
            <pc:docMk/>
            <pc:sldMk cId="4233459952" sldId="262"/>
            <ac:picMk id="4" creationId="{2FACE952-1FBB-9EB1-169E-E6D3CBA5C3D6}"/>
          </ac:picMkLst>
        </pc:picChg>
      </pc:sldChg>
      <pc:sldChg chg="modSp add mod modNotesTx">
        <pc:chgData name="Eric Ekman" userId="ae177072e7f75c66" providerId="LiveId" clId="{CDB921CD-DB32-47F1-808D-E9C3CA745743}" dt="2025-11-30T12:45:26.133" v="3124" actId="20577"/>
        <pc:sldMkLst>
          <pc:docMk/>
          <pc:sldMk cId="248758334" sldId="263"/>
        </pc:sldMkLst>
        <pc:spChg chg="mod">
          <ac:chgData name="Eric Ekman" userId="ae177072e7f75c66" providerId="LiveId" clId="{CDB921CD-DB32-47F1-808D-E9C3CA745743}" dt="2025-11-24T15:55:39.090" v="1592" actId="20577"/>
          <ac:spMkLst>
            <pc:docMk/>
            <pc:sldMk cId="248758334" sldId="263"/>
            <ac:spMk id="2" creationId="{730D4696-0BC5-17A7-0606-37B266FE6D0F}"/>
          </ac:spMkLst>
        </pc:spChg>
        <pc:picChg chg="mod">
          <ac:chgData name="Eric Ekman" userId="ae177072e7f75c66" providerId="LiveId" clId="{CDB921CD-DB32-47F1-808D-E9C3CA745743}" dt="2025-11-24T15:55:59.742" v="1593" actId="14826"/>
          <ac:picMkLst>
            <pc:docMk/>
            <pc:sldMk cId="248758334" sldId="263"/>
            <ac:picMk id="4" creationId="{3BBE14DA-22BA-6077-7229-394B44132848}"/>
          </ac:picMkLst>
        </pc:picChg>
      </pc:sldChg>
      <pc:sldChg chg="addSp modSp add mod modNotesTx">
        <pc:chgData name="Eric Ekman" userId="ae177072e7f75c66" providerId="LiveId" clId="{CDB921CD-DB32-47F1-808D-E9C3CA745743}" dt="2025-11-25T16:49:30.434" v="2963" actId="33524"/>
        <pc:sldMkLst>
          <pc:docMk/>
          <pc:sldMk cId="2669417787" sldId="264"/>
        </pc:sldMkLst>
        <pc:spChg chg="mod">
          <ac:chgData name="Eric Ekman" userId="ae177072e7f75c66" providerId="LiveId" clId="{CDB921CD-DB32-47F1-808D-E9C3CA745743}" dt="2025-11-24T15:58:18.884" v="1623" actId="1076"/>
          <ac:spMkLst>
            <pc:docMk/>
            <pc:sldMk cId="2669417787" sldId="264"/>
            <ac:spMk id="2" creationId="{51EAD631-708B-D47A-E077-33B63F74A83D}"/>
          </ac:spMkLst>
        </pc:spChg>
        <pc:spChg chg="add mod">
          <ac:chgData name="Eric Ekman" userId="ae177072e7f75c66" providerId="LiveId" clId="{CDB921CD-DB32-47F1-808D-E9C3CA745743}" dt="2025-11-24T15:58:12.026" v="1622"/>
          <ac:spMkLst>
            <pc:docMk/>
            <pc:sldMk cId="2669417787" sldId="264"/>
            <ac:spMk id="3" creationId="{1FB57323-19AB-7FB7-CC1E-8EFDA72B2F52}"/>
          </ac:spMkLst>
        </pc:spChg>
        <pc:picChg chg="mod">
          <ac:chgData name="Eric Ekman" userId="ae177072e7f75c66" providerId="LiveId" clId="{CDB921CD-DB32-47F1-808D-E9C3CA745743}" dt="2025-11-24T15:57:55.213" v="1620" actId="1076"/>
          <ac:picMkLst>
            <pc:docMk/>
            <pc:sldMk cId="2669417787" sldId="264"/>
            <ac:picMk id="4" creationId="{3A7A0C28-7E02-5DD5-954E-AFA61CEC5B96}"/>
          </ac:picMkLst>
        </pc:picChg>
      </pc:sldChg>
      <pc:sldChg chg="modSp add mod modNotesTx">
        <pc:chgData name="Eric Ekman" userId="ae177072e7f75c66" providerId="LiveId" clId="{CDB921CD-DB32-47F1-808D-E9C3CA745743}" dt="2025-11-25T16:44:16.123" v="2565" actId="33524"/>
        <pc:sldMkLst>
          <pc:docMk/>
          <pc:sldMk cId="1817320951" sldId="265"/>
        </pc:sldMkLst>
        <pc:spChg chg="mod">
          <ac:chgData name="Eric Ekman" userId="ae177072e7f75c66" providerId="LiveId" clId="{CDB921CD-DB32-47F1-808D-E9C3CA745743}" dt="2025-11-24T15:59:31.841" v="1628" actId="14100"/>
          <ac:spMkLst>
            <pc:docMk/>
            <pc:sldMk cId="1817320951" sldId="265"/>
            <ac:spMk id="2" creationId="{C6D0A294-2D42-4700-3033-0155A57F8C2D}"/>
          </ac:spMkLst>
        </pc:spChg>
        <pc:spChg chg="mod">
          <ac:chgData name="Eric Ekman" userId="ae177072e7f75c66" providerId="LiveId" clId="{CDB921CD-DB32-47F1-808D-E9C3CA745743}" dt="2025-11-24T15:59:50.781" v="1629"/>
          <ac:spMkLst>
            <pc:docMk/>
            <pc:sldMk cId="1817320951" sldId="265"/>
            <ac:spMk id="3" creationId="{81135CCB-D5FD-75CE-3785-F9A6DA17B256}"/>
          </ac:spMkLst>
        </pc:spChg>
        <pc:picChg chg="mod">
          <ac:chgData name="Eric Ekman" userId="ae177072e7f75c66" providerId="LiveId" clId="{CDB921CD-DB32-47F1-808D-E9C3CA745743}" dt="2025-11-24T15:59:58.868" v="1630" actId="14826"/>
          <ac:picMkLst>
            <pc:docMk/>
            <pc:sldMk cId="1817320951" sldId="265"/>
            <ac:picMk id="4" creationId="{754479F3-76B7-67BA-1200-4E353ECDD4D5}"/>
          </ac:picMkLst>
        </pc:picChg>
      </pc:sldChg>
      <pc:sldChg chg="modSp new mod">
        <pc:chgData name="Eric Ekman" userId="ae177072e7f75c66" providerId="LiveId" clId="{CDB921CD-DB32-47F1-808D-E9C3CA745743}" dt="2025-11-24T16:02:32.275" v="1862" actId="20577"/>
        <pc:sldMkLst>
          <pc:docMk/>
          <pc:sldMk cId="2226140505" sldId="266"/>
        </pc:sldMkLst>
        <pc:spChg chg="mod">
          <ac:chgData name="Eric Ekman" userId="ae177072e7f75c66" providerId="LiveId" clId="{CDB921CD-DB32-47F1-808D-E9C3CA745743}" dt="2025-11-24T16:00:45.657" v="1662" actId="20577"/>
          <ac:spMkLst>
            <pc:docMk/>
            <pc:sldMk cId="2226140505" sldId="266"/>
            <ac:spMk id="2" creationId="{958B57BF-DC06-8C4A-7950-FEEE3E2D46C2}"/>
          </ac:spMkLst>
        </pc:spChg>
        <pc:spChg chg="mod">
          <ac:chgData name="Eric Ekman" userId="ae177072e7f75c66" providerId="LiveId" clId="{CDB921CD-DB32-47F1-808D-E9C3CA745743}" dt="2025-11-24T16:02:32.275" v="1862" actId="20577"/>
          <ac:spMkLst>
            <pc:docMk/>
            <pc:sldMk cId="2226140505" sldId="266"/>
            <ac:spMk id="3" creationId="{6F611835-8480-F1A1-74CF-F6123E83D9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A07748-C948-4D69-9A6B-F065A8D42DF0}"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1E5CF9-7158-45AE-B16D-0234AA3831BB}" type="slidenum">
              <a:rPr lang="en-US" smtClean="0"/>
              <a:t>‹#›</a:t>
            </a:fld>
            <a:endParaRPr lang="en-US"/>
          </a:p>
        </p:txBody>
      </p:sp>
    </p:spTree>
    <p:extLst>
      <p:ext uri="{BB962C8B-B14F-4D97-AF65-F5344CB8AC3E}">
        <p14:creationId xmlns:p14="http://schemas.microsoft.com/office/powerpoint/2010/main" val="1540058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I’ll present a data-driven exploration of global suicide trends from 1985 to 2016, focusing on how rates vary across gender, age, and indicators of national development. I’ll be analyzing long term trends and testing whether broader societal indicators like GDP and the Human Development Index can help explain suicide patterns over time. </a:t>
            </a:r>
          </a:p>
        </p:txBody>
      </p:sp>
      <p:sp>
        <p:nvSpPr>
          <p:cNvPr id="4" name="Slide Number Placeholder 3"/>
          <p:cNvSpPr>
            <a:spLocks noGrp="1"/>
          </p:cNvSpPr>
          <p:nvPr>
            <p:ph type="sldNum" sz="quarter" idx="5"/>
          </p:nvPr>
        </p:nvSpPr>
        <p:spPr/>
        <p:txBody>
          <a:bodyPr/>
          <a:lstStyle/>
          <a:p>
            <a:fld id="{0C1E5CF9-7158-45AE-B16D-0234AA3831BB}" type="slidenum">
              <a:rPr lang="en-US" smtClean="0"/>
              <a:t>1</a:t>
            </a:fld>
            <a:endParaRPr lang="en-US"/>
          </a:p>
        </p:txBody>
      </p:sp>
    </p:spTree>
    <p:extLst>
      <p:ext uri="{BB962C8B-B14F-4D97-AF65-F5344CB8AC3E}">
        <p14:creationId xmlns:p14="http://schemas.microsoft.com/office/powerpoint/2010/main" val="3805131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Suicide is a global public health concern, yet its causes are complex and multi-determined. While some countries have seen declining rates, others, like the U.S., show a troubling rise, particularly among men and middle-aged adults. This project uses global data from 1985 to 2016 to explore how suicide rates vary by time, age, gender and development. The objective of this project is to analyze long-term trends and test whether broader societal indicators help explain suicide patterns across countries and over time. </a:t>
            </a:r>
            <a:endParaRPr lang="en-US" dirty="0"/>
          </a:p>
        </p:txBody>
      </p:sp>
      <p:sp>
        <p:nvSpPr>
          <p:cNvPr id="4" name="Slide Number Placeholder 3"/>
          <p:cNvSpPr>
            <a:spLocks noGrp="1"/>
          </p:cNvSpPr>
          <p:nvPr>
            <p:ph type="sldNum" sz="quarter" idx="5"/>
          </p:nvPr>
        </p:nvSpPr>
        <p:spPr/>
        <p:txBody>
          <a:bodyPr/>
          <a:lstStyle/>
          <a:p>
            <a:fld id="{0C1E5CF9-7158-45AE-B16D-0234AA3831BB}" type="slidenum">
              <a:rPr lang="en-US" smtClean="0"/>
              <a:t>2</a:t>
            </a:fld>
            <a:endParaRPr lang="en-US"/>
          </a:p>
        </p:txBody>
      </p:sp>
    </p:spTree>
    <p:extLst>
      <p:ext uri="{BB962C8B-B14F-4D97-AF65-F5344CB8AC3E}">
        <p14:creationId xmlns:p14="http://schemas.microsoft.com/office/powerpoint/2010/main" val="648615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dataset compares socio-economic information with suicide rates by year and country, with 30 years of data. It is compiled from four other datasets published by the United Nations Development Program, World Bank, and World Health Organization. I used RStudio with the </a:t>
            </a:r>
            <a:r>
              <a:rPr lang="en-US" sz="1200" kern="1200" dirty="0" err="1">
                <a:solidFill>
                  <a:schemeClr val="tx1"/>
                </a:solidFill>
                <a:effectLst/>
                <a:latin typeface="+mn-lt"/>
                <a:ea typeface="+mn-ea"/>
                <a:cs typeface="+mn-cs"/>
              </a:rPr>
              <a:t>tidyverse</a:t>
            </a:r>
            <a:r>
              <a:rPr lang="en-US" sz="1200" kern="1200" dirty="0">
                <a:solidFill>
                  <a:schemeClr val="tx1"/>
                </a:solidFill>
                <a:effectLst/>
                <a:latin typeface="+mn-lt"/>
                <a:ea typeface="+mn-ea"/>
                <a:cs typeface="+mn-cs"/>
              </a:rPr>
              <a:t> package to clean, visualize, and analyze the data. Line plots were used to explore trends, and linear regression models tested associations between suicide rates and societal indicators over time.</a:t>
            </a:r>
          </a:p>
          <a:p>
            <a:endParaRPr lang="en-US" dirty="0"/>
          </a:p>
        </p:txBody>
      </p:sp>
      <p:sp>
        <p:nvSpPr>
          <p:cNvPr id="4" name="Slide Number Placeholder 3"/>
          <p:cNvSpPr>
            <a:spLocks noGrp="1"/>
          </p:cNvSpPr>
          <p:nvPr>
            <p:ph type="sldNum" sz="quarter" idx="5"/>
          </p:nvPr>
        </p:nvSpPr>
        <p:spPr/>
        <p:txBody>
          <a:bodyPr/>
          <a:lstStyle/>
          <a:p>
            <a:fld id="{0C1E5CF9-7158-45AE-B16D-0234AA3831BB}" type="slidenum">
              <a:rPr lang="en-US" smtClean="0"/>
              <a:t>3</a:t>
            </a:fld>
            <a:endParaRPr lang="en-US"/>
          </a:p>
        </p:txBody>
      </p:sp>
    </p:spTree>
    <p:extLst>
      <p:ext uri="{BB962C8B-B14F-4D97-AF65-F5344CB8AC3E}">
        <p14:creationId xmlns:p14="http://schemas.microsoft.com/office/powerpoint/2010/main" val="1671383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graph compares Global and US suicide rates by gender over a 30 year period. The global male suicide rate peaked in the mid-1990s and declined, while U.S. male rates have risen sharply since 2000. Female rates remain lower than male rates everywhere but show a slight increase over time in the U.S. The U.S. overall suicide rate has diverged from the global decline, especially post-2000—suggesting potential country-specific factors are likely influential. </a:t>
            </a:r>
          </a:p>
        </p:txBody>
      </p:sp>
      <p:sp>
        <p:nvSpPr>
          <p:cNvPr id="4" name="Slide Number Placeholder 3"/>
          <p:cNvSpPr>
            <a:spLocks noGrp="1"/>
          </p:cNvSpPr>
          <p:nvPr>
            <p:ph type="sldNum" sz="quarter" idx="5"/>
          </p:nvPr>
        </p:nvSpPr>
        <p:spPr/>
        <p:txBody>
          <a:bodyPr/>
          <a:lstStyle/>
          <a:p>
            <a:fld id="{0C1E5CF9-7158-45AE-B16D-0234AA3831BB}" type="slidenum">
              <a:rPr lang="en-US" smtClean="0"/>
              <a:t>4</a:t>
            </a:fld>
            <a:endParaRPr lang="en-US"/>
          </a:p>
        </p:txBody>
      </p:sp>
    </p:spTree>
    <p:extLst>
      <p:ext uri="{BB962C8B-B14F-4D97-AF65-F5344CB8AC3E}">
        <p14:creationId xmlns:p14="http://schemas.microsoft.com/office/powerpoint/2010/main" val="3748003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CE523-D930-6664-1CB2-915C60979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AF7B3-6145-CA25-58CF-2F0095DD5D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8729E-4F68-556F-8FAC-E09FE997330B}"/>
              </a:ext>
            </a:extLst>
          </p:cNvPr>
          <p:cNvSpPr>
            <a:spLocks noGrp="1"/>
          </p:cNvSpPr>
          <p:nvPr>
            <p:ph type="body" idx="1"/>
          </p:nvPr>
        </p:nvSpPr>
        <p:spPr/>
        <p:txBody>
          <a:bodyPr/>
          <a:lstStyle/>
          <a:p>
            <a:pPr lvl="0"/>
            <a:r>
              <a:rPr lang="en-US" sz="1200" kern="1200" dirty="0">
                <a:solidFill>
                  <a:schemeClr val="tx1"/>
                </a:solidFill>
                <a:effectLst/>
                <a:latin typeface="+mn-lt"/>
                <a:ea typeface="+mn-ea"/>
                <a:cs typeface="+mn-cs"/>
              </a:rPr>
              <a:t>This next graph shows how the countries with the top 5 highest suicide rates compare to the United States. </a:t>
            </a:r>
          </a:p>
          <a:p>
            <a:pPr lvl="0"/>
            <a:r>
              <a:rPr lang="en-US" sz="1200" kern="1200" dirty="0">
                <a:solidFill>
                  <a:schemeClr val="tx1"/>
                </a:solidFill>
                <a:effectLst/>
                <a:latin typeface="+mn-lt"/>
                <a:ea typeface="+mn-ea"/>
                <a:cs typeface="+mn-cs"/>
              </a:rPr>
              <a:t>While the top 5 countries had much higher suicide rates in the 1980s - 1990s, many of these countries have experienced a sharp and consistent decline over time.</a:t>
            </a:r>
          </a:p>
          <a:p>
            <a:pPr lvl="0"/>
            <a:r>
              <a:rPr lang="en-US" sz="1200" kern="1200" dirty="0">
                <a:solidFill>
                  <a:schemeClr val="tx1"/>
                </a:solidFill>
                <a:effectLst/>
                <a:latin typeface="+mn-lt"/>
                <a:ea typeface="+mn-ea"/>
                <a:cs typeface="+mn-cs"/>
              </a:rPr>
              <a:t>The United States, while starting at a much lower rate, is one of the only countries on this chart with a rising trends from ~2000 onward. This makes the U.S. an outlier not in level, but in trajectory, which is possibly more concerning.</a:t>
            </a:r>
          </a:p>
          <a:p>
            <a:endParaRPr lang="en-US" dirty="0"/>
          </a:p>
        </p:txBody>
      </p:sp>
      <p:sp>
        <p:nvSpPr>
          <p:cNvPr id="4" name="Slide Number Placeholder 3">
            <a:extLst>
              <a:ext uri="{FF2B5EF4-FFF2-40B4-BE49-F238E27FC236}">
                <a16:creationId xmlns:a16="http://schemas.microsoft.com/office/drawing/2014/main" id="{614DDCCE-5968-C3D2-7206-BCAB0AD7D579}"/>
              </a:ext>
            </a:extLst>
          </p:cNvPr>
          <p:cNvSpPr>
            <a:spLocks noGrp="1"/>
          </p:cNvSpPr>
          <p:nvPr>
            <p:ph type="sldNum" sz="quarter" idx="5"/>
          </p:nvPr>
        </p:nvSpPr>
        <p:spPr/>
        <p:txBody>
          <a:bodyPr/>
          <a:lstStyle/>
          <a:p>
            <a:fld id="{0C1E5CF9-7158-45AE-B16D-0234AA3831BB}" type="slidenum">
              <a:rPr lang="en-US" smtClean="0"/>
              <a:t>5</a:t>
            </a:fld>
            <a:endParaRPr lang="en-US"/>
          </a:p>
        </p:txBody>
      </p:sp>
    </p:spTree>
    <p:extLst>
      <p:ext uri="{BB962C8B-B14F-4D97-AF65-F5344CB8AC3E}">
        <p14:creationId xmlns:p14="http://schemas.microsoft.com/office/powerpoint/2010/main" val="2007327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F1788-FCEF-DA5D-939E-52C409F20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84C5D-C68B-AC73-9EC0-493566E132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805CB6-1F3F-A641-6A72-E66CAF6D4E24}"/>
              </a:ext>
            </a:extLst>
          </p:cNvPr>
          <p:cNvSpPr>
            <a:spLocks noGrp="1"/>
          </p:cNvSpPr>
          <p:nvPr>
            <p:ph type="body" idx="1"/>
          </p:nvPr>
        </p:nvSpPr>
        <p:spPr/>
        <p:txBody>
          <a:bodyPr/>
          <a:lstStyle/>
          <a:p>
            <a:pPr lvl="0"/>
            <a:r>
              <a:rPr lang="en-US" dirty="0"/>
              <a:t>This chart breaks down U.S. suicide trends by age group. The most notable increases since the early 2000s are in the core working-age population (those from 25-74). Youth suicide rates (15–24) also appear to be rising again after a dip in the early 2000s. Meanwhile, older adults (75+) show a long-term decline, and rates among children (5–14) remain low and flat. These trends highlight that recent increases are not universal across all age groups but concentrated in adults and young people.</a:t>
            </a: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3FE339B-9E36-EB58-1F18-5540CB368BF7}"/>
              </a:ext>
            </a:extLst>
          </p:cNvPr>
          <p:cNvSpPr>
            <a:spLocks noGrp="1"/>
          </p:cNvSpPr>
          <p:nvPr>
            <p:ph type="sldNum" sz="quarter" idx="5"/>
          </p:nvPr>
        </p:nvSpPr>
        <p:spPr/>
        <p:txBody>
          <a:bodyPr/>
          <a:lstStyle/>
          <a:p>
            <a:fld id="{0C1E5CF9-7158-45AE-B16D-0234AA3831BB}" type="slidenum">
              <a:rPr lang="en-US" smtClean="0"/>
              <a:t>6</a:t>
            </a:fld>
            <a:endParaRPr lang="en-US"/>
          </a:p>
        </p:txBody>
      </p:sp>
    </p:spTree>
    <p:extLst>
      <p:ext uri="{BB962C8B-B14F-4D97-AF65-F5344CB8AC3E}">
        <p14:creationId xmlns:p14="http://schemas.microsoft.com/office/powerpoint/2010/main" val="230958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40ED5-DC06-CDA6-D26F-D508B29EF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4DE88B-1018-C2FB-719F-1975CD2F0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D4CE7-9EE0-D2C1-08D2-50236A72B7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first potentially explanatory variable in this dataset is GDP, which stands for gross domestic product. This is the total market value of all finished goods and services produced within a country's borders during a specific period. This is considered a key indicator of a nation's economic health and is used by policy makers to measure economic size and growth.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multiple linear regression found a statistically significant relationship between GDP and suicide rates; however, it’s a weak effect, only explaining 0.48% of the variance in suicide rates, and the effect has been weakening over time. The weakening of the interaction between GDP and year could reflect global development, better access to healthcare, or more nuanced relationships between a country's economic development and suicide rates.</a:t>
            </a:r>
          </a:p>
          <a:p>
            <a:pPr lvl="0"/>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BC59041-C5C5-D131-1379-C460208EF37B}"/>
              </a:ext>
            </a:extLst>
          </p:cNvPr>
          <p:cNvSpPr>
            <a:spLocks noGrp="1"/>
          </p:cNvSpPr>
          <p:nvPr>
            <p:ph type="sldNum" sz="quarter" idx="5"/>
          </p:nvPr>
        </p:nvSpPr>
        <p:spPr/>
        <p:txBody>
          <a:bodyPr/>
          <a:lstStyle/>
          <a:p>
            <a:fld id="{0C1E5CF9-7158-45AE-B16D-0234AA3831BB}" type="slidenum">
              <a:rPr lang="en-US" smtClean="0"/>
              <a:t>7</a:t>
            </a:fld>
            <a:endParaRPr lang="en-US"/>
          </a:p>
        </p:txBody>
      </p:sp>
    </p:spTree>
    <p:extLst>
      <p:ext uri="{BB962C8B-B14F-4D97-AF65-F5344CB8AC3E}">
        <p14:creationId xmlns:p14="http://schemas.microsoft.com/office/powerpoint/2010/main" val="2223957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C1916-7AE7-8A25-0930-F778FAD72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8C5239-3263-DC1A-8FDB-40374BF77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3B2190-5FE9-FCA0-315F-D867DA9AD4F1}"/>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Next, let's look at a more robust measure of human development. The human development index (HDI), is a composite statistic that measure a country's average achievement in life expectancy, education, and a decent standard of living. While GDP focuses purely on economic activity, the HDI provides a broader picture of a nation's development.</a:t>
            </a:r>
          </a:p>
          <a:p>
            <a:pPr lvl="0"/>
            <a:r>
              <a:rPr lang="en-US" sz="1200" kern="1200" dirty="0">
                <a:solidFill>
                  <a:schemeClr val="tx1"/>
                </a:solidFill>
                <a:effectLst/>
                <a:latin typeface="+mn-lt"/>
                <a:ea typeface="+mn-ea"/>
                <a:cs typeface="+mn-cs"/>
              </a:rPr>
              <a:t>A multiple linear regression was conducted to examine the association between Human Development Index (HDI), year, and their interaction on suicide rates. </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HDI had a slightly stronger, but still modest relationship with suicide rates, explaining 1.8% of the variance in suicide rates. Like GDP, its predictive power has also declined over time. This could reflect rising suicide rates in lower-development countries or stabilizing rates in high-development countries. </a:t>
            </a:r>
          </a:p>
        </p:txBody>
      </p:sp>
      <p:sp>
        <p:nvSpPr>
          <p:cNvPr id="4" name="Slide Number Placeholder 3">
            <a:extLst>
              <a:ext uri="{FF2B5EF4-FFF2-40B4-BE49-F238E27FC236}">
                <a16:creationId xmlns:a16="http://schemas.microsoft.com/office/drawing/2014/main" id="{BB00BF7F-720E-2F2E-E2AD-166D54EF11E9}"/>
              </a:ext>
            </a:extLst>
          </p:cNvPr>
          <p:cNvSpPr>
            <a:spLocks noGrp="1"/>
          </p:cNvSpPr>
          <p:nvPr>
            <p:ph type="sldNum" sz="quarter" idx="5"/>
          </p:nvPr>
        </p:nvSpPr>
        <p:spPr/>
        <p:txBody>
          <a:bodyPr/>
          <a:lstStyle/>
          <a:p>
            <a:fld id="{0C1E5CF9-7158-45AE-B16D-0234AA3831BB}" type="slidenum">
              <a:rPr lang="en-US" smtClean="0"/>
              <a:t>8</a:t>
            </a:fld>
            <a:endParaRPr lang="en-US"/>
          </a:p>
        </p:txBody>
      </p:sp>
    </p:spTree>
    <p:extLst>
      <p:ext uri="{BB962C8B-B14F-4D97-AF65-F5344CB8AC3E}">
        <p14:creationId xmlns:p14="http://schemas.microsoft.com/office/powerpoint/2010/main" val="17681381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kern="1200" dirty="0">
                <a:solidFill>
                  <a:schemeClr val="tx1"/>
                </a:solidFill>
                <a:effectLst/>
                <a:latin typeface="+mn-lt"/>
                <a:ea typeface="+mn-ea"/>
                <a:cs typeface="+mn-cs"/>
              </a:rPr>
              <a:t>Despite examining economic and development indicators like GDP and HDI, neither emerges as a strong predictor of suicide rates globally. The variability across age, gender, and national trends suggests that suicide is not rooted in any single societal metric but instead reflects the outcome of a constellation of psychological, social, and structural factors.</a:t>
            </a:r>
          </a:p>
          <a:p>
            <a:pPr lvl="1"/>
            <a:r>
              <a:rPr lang="en-US" sz="1200" kern="1200" dirty="0">
                <a:solidFill>
                  <a:schemeClr val="tx1"/>
                </a:solidFill>
                <a:effectLst/>
                <a:latin typeface="+mn-lt"/>
                <a:ea typeface="+mn-ea"/>
                <a:cs typeface="+mn-cs"/>
              </a:rPr>
              <a:t>This reinforces the need for multi-level, interdisciplinary approaches, not only data-driven but also human-centered, to understand and prevent suicide.</a:t>
            </a:r>
          </a:p>
          <a:p>
            <a:endParaRPr lang="en-US" dirty="0"/>
          </a:p>
        </p:txBody>
      </p:sp>
      <p:sp>
        <p:nvSpPr>
          <p:cNvPr id="4" name="Slide Number Placeholder 3"/>
          <p:cNvSpPr>
            <a:spLocks noGrp="1"/>
          </p:cNvSpPr>
          <p:nvPr>
            <p:ph type="sldNum" sz="quarter" idx="5"/>
          </p:nvPr>
        </p:nvSpPr>
        <p:spPr/>
        <p:txBody>
          <a:bodyPr/>
          <a:lstStyle/>
          <a:p>
            <a:fld id="{0C1E5CF9-7158-45AE-B16D-0234AA3831BB}" type="slidenum">
              <a:rPr lang="en-US" smtClean="0"/>
              <a:t>9</a:t>
            </a:fld>
            <a:endParaRPr lang="en-US"/>
          </a:p>
        </p:txBody>
      </p:sp>
    </p:spTree>
    <p:extLst>
      <p:ext uri="{BB962C8B-B14F-4D97-AF65-F5344CB8AC3E}">
        <p14:creationId xmlns:p14="http://schemas.microsoft.com/office/powerpoint/2010/main" val="2490089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09D3A-0A3D-BDA2-D993-752B84E1F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808F1-29D1-F91F-0A61-D4A8C4FB5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D1A55-D1CC-6BD9-4540-E557F028DACB}"/>
              </a:ext>
            </a:extLst>
          </p:cNvPr>
          <p:cNvSpPr>
            <a:spLocks noGrp="1"/>
          </p:cNvSpPr>
          <p:nvPr>
            <p:ph type="body" idx="1"/>
          </p:nvPr>
        </p:nvSpPr>
        <p:spPr/>
        <p:txBody>
          <a:bodyPr/>
          <a:lstStyle/>
          <a:p>
            <a:r>
              <a:rPr lang="en-US" dirty="0"/>
              <a:t>To provide another visualization, the red line shows the US trend line while the grey lines show all other countries. </a:t>
            </a:r>
          </a:p>
        </p:txBody>
      </p:sp>
      <p:sp>
        <p:nvSpPr>
          <p:cNvPr id="4" name="Slide Number Placeholder 3">
            <a:extLst>
              <a:ext uri="{FF2B5EF4-FFF2-40B4-BE49-F238E27FC236}">
                <a16:creationId xmlns:a16="http://schemas.microsoft.com/office/drawing/2014/main" id="{59246BFD-CD03-9083-7CF4-2C17D9994AE9}"/>
              </a:ext>
            </a:extLst>
          </p:cNvPr>
          <p:cNvSpPr>
            <a:spLocks noGrp="1"/>
          </p:cNvSpPr>
          <p:nvPr>
            <p:ph type="sldNum" sz="quarter" idx="5"/>
          </p:nvPr>
        </p:nvSpPr>
        <p:spPr/>
        <p:txBody>
          <a:bodyPr/>
          <a:lstStyle/>
          <a:p>
            <a:fld id="{0C1E5CF9-7158-45AE-B16D-0234AA3831BB}" type="slidenum">
              <a:rPr lang="en-US" smtClean="0"/>
              <a:t>10</a:t>
            </a:fld>
            <a:endParaRPr lang="en-US"/>
          </a:p>
        </p:txBody>
      </p:sp>
    </p:spTree>
    <p:extLst>
      <p:ext uri="{BB962C8B-B14F-4D97-AF65-F5344CB8AC3E}">
        <p14:creationId xmlns:p14="http://schemas.microsoft.com/office/powerpoint/2010/main" val="1578581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1869530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3125223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234667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1E6573-88A0-4F8F-BF07-A27DC92C8C03}"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215585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1E6573-88A0-4F8F-BF07-A27DC92C8C03}"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3321632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1E6573-88A0-4F8F-BF07-A27DC92C8C03}"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2836793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1E6573-88A0-4F8F-BF07-A27DC92C8C03}"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4166077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E6573-88A0-4F8F-BF07-A27DC92C8C03}"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920215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E6573-88A0-4F8F-BF07-A27DC92C8C03}"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2328657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E6573-88A0-4F8F-BF07-A27DC92C8C03}"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3633168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2947683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2877157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1250612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1998893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3270402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1981713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1E6573-88A0-4F8F-BF07-A27DC92C8C03}"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92A5B2-E581-4AB3-B7DD-947EEFFE102C}" type="slidenum">
              <a:rPr lang="en-US" smtClean="0"/>
              <a:t>‹#›</a:t>
            </a:fld>
            <a:endParaRPr lang="en-US"/>
          </a:p>
        </p:txBody>
      </p:sp>
    </p:spTree>
    <p:extLst>
      <p:ext uri="{BB962C8B-B14F-4D97-AF65-F5344CB8AC3E}">
        <p14:creationId xmlns:p14="http://schemas.microsoft.com/office/powerpoint/2010/main" val="1952311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61E6573-88A0-4F8F-BF07-A27DC92C8C03}" type="datetimeFigureOut">
              <a:rPr lang="en-US" smtClean="0"/>
              <a:t>12/2/2025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92A5B2-E581-4AB3-B7DD-947EEFFE102C}" type="slidenum">
              <a:rPr lang="en-US" smtClean="0"/>
              <a:t>‹#›</a:t>
            </a:fld>
            <a:endParaRPr lang="en-US"/>
          </a:p>
        </p:txBody>
      </p:sp>
    </p:spTree>
    <p:extLst>
      <p:ext uri="{BB962C8B-B14F-4D97-AF65-F5344CB8AC3E}">
        <p14:creationId xmlns:p14="http://schemas.microsoft.com/office/powerpoint/2010/main" val="23047711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A8922-85AF-91BD-5D10-BA9BC3A3B634}"/>
              </a:ext>
            </a:extLst>
          </p:cNvPr>
          <p:cNvSpPr>
            <a:spLocks noGrp="1"/>
          </p:cNvSpPr>
          <p:nvPr>
            <p:ph type="ctrTitle"/>
          </p:nvPr>
        </p:nvSpPr>
        <p:spPr>
          <a:xfrm>
            <a:off x="1585226" y="167708"/>
            <a:ext cx="9917797" cy="3828560"/>
          </a:xfrm>
        </p:spPr>
        <p:txBody>
          <a:bodyPr>
            <a:normAutofit/>
          </a:bodyPr>
          <a:lstStyle/>
          <a:p>
            <a:r>
              <a:rPr lang="en-US" dirty="0"/>
              <a:t>Understanding Suicide Through Global Data (1985–2016): Trends Across Time, Age, and Development</a:t>
            </a:r>
          </a:p>
        </p:txBody>
      </p:sp>
      <p:sp>
        <p:nvSpPr>
          <p:cNvPr id="3" name="Subtitle 2">
            <a:extLst>
              <a:ext uri="{FF2B5EF4-FFF2-40B4-BE49-F238E27FC236}">
                <a16:creationId xmlns:a16="http://schemas.microsoft.com/office/drawing/2014/main" id="{9F3048CF-7381-4DDA-FE8B-33DB311B377F}"/>
              </a:ext>
            </a:extLst>
          </p:cNvPr>
          <p:cNvSpPr>
            <a:spLocks noGrp="1"/>
          </p:cNvSpPr>
          <p:nvPr>
            <p:ph type="subTitle" idx="1"/>
          </p:nvPr>
        </p:nvSpPr>
        <p:spPr/>
        <p:txBody>
          <a:bodyPr/>
          <a:lstStyle/>
          <a:p>
            <a:r>
              <a:rPr lang="en-US" dirty="0"/>
              <a:t>Eric Ekman </a:t>
            </a:r>
          </a:p>
          <a:p>
            <a:r>
              <a:rPr lang="en-US" dirty="0"/>
              <a:t>Data 612 </a:t>
            </a:r>
          </a:p>
          <a:p>
            <a:r>
              <a:rPr lang="en-US" dirty="0"/>
              <a:t>12/2/2025 </a:t>
            </a:r>
          </a:p>
        </p:txBody>
      </p:sp>
    </p:spTree>
    <p:extLst>
      <p:ext uri="{BB962C8B-B14F-4D97-AF65-F5344CB8AC3E}">
        <p14:creationId xmlns:p14="http://schemas.microsoft.com/office/powerpoint/2010/main" val="572101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52736-936B-4AE9-7CF4-17748B627A41}"/>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6FB31059-85B3-3481-B27F-B2F2950E94B0}"/>
              </a:ext>
            </a:extLst>
          </p:cNvPr>
          <p:cNvSpPr>
            <a:spLocks noGrp="1"/>
          </p:cNvSpPr>
          <p:nvPr>
            <p:ph idx="1"/>
          </p:nvPr>
        </p:nvSpPr>
        <p:spPr/>
        <p:txBody>
          <a:bodyPr/>
          <a:lstStyle/>
          <a:p>
            <a:r>
              <a:rPr lang="en-US" dirty="0"/>
              <a:t>Suicide is a global public health concern, yet its causes are complex and multi-determined. </a:t>
            </a:r>
          </a:p>
          <a:p>
            <a:r>
              <a:rPr lang="en-US" dirty="0"/>
              <a:t>This project uses global data from 1985 to 2016 to explore how suicide rates vary by time, age, gender and development. </a:t>
            </a:r>
          </a:p>
          <a:p>
            <a:r>
              <a:rPr lang="en-US" dirty="0"/>
              <a:t>Objective: Analyze long term trends and whether broader societal indicators (GDP, HDI) can help explain suicide patterns </a:t>
            </a:r>
          </a:p>
        </p:txBody>
      </p:sp>
    </p:spTree>
    <p:extLst>
      <p:ext uri="{BB962C8B-B14F-4D97-AF65-F5344CB8AC3E}">
        <p14:creationId xmlns:p14="http://schemas.microsoft.com/office/powerpoint/2010/main" val="165273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53E8A-EB28-2DF9-C697-79F3A2F808A2}"/>
              </a:ext>
            </a:extLst>
          </p:cNvPr>
          <p:cNvSpPr>
            <a:spLocks noGrp="1"/>
          </p:cNvSpPr>
          <p:nvPr>
            <p:ph type="title"/>
          </p:nvPr>
        </p:nvSpPr>
        <p:spPr/>
        <p:txBody>
          <a:bodyPr/>
          <a:lstStyle/>
          <a:p>
            <a:r>
              <a:rPr lang="en-US" dirty="0"/>
              <a:t>Methodology</a:t>
            </a:r>
          </a:p>
        </p:txBody>
      </p:sp>
      <p:sp>
        <p:nvSpPr>
          <p:cNvPr id="3" name="Content Placeholder 2">
            <a:extLst>
              <a:ext uri="{FF2B5EF4-FFF2-40B4-BE49-F238E27FC236}">
                <a16:creationId xmlns:a16="http://schemas.microsoft.com/office/drawing/2014/main" id="{B151C109-20D5-262C-4BC3-1AC0F0CF4ADB}"/>
              </a:ext>
            </a:extLst>
          </p:cNvPr>
          <p:cNvSpPr>
            <a:spLocks noGrp="1"/>
          </p:cNvSpPr>
          <p:nvPr>
            <p:ph idx="1"/>
          </p:nvPr>
        </p:nvSpPr>
        <p:spPr/>
        <p:txBody>
          <a:bodyPr/>
          <a:lstStyle/>
          <a:p>
            <a:r>
              <a:rPr lang="en-US" dirty="0"/>
              <a:t>Data Sources: This dataset compares socio-economic information with suicide rates by year and country, with 30 years of data (1985 – 2016). </a:t>
            </a:r>
          </a:p>
          <a:p>
            <a:pPr lvl="1"/>
            <a:r>
              <a:rPr lang="en-US" dirty="0"/>
              <a:t>It is compiled from four other datasets published by the United Nations Development Program, World Bank, and World Health Organization.  </a:t>
            </a:r>
          </a:p>
          <a:p>
            <a:r>
              <a:rPr lang="en-US" dirty="0"/>
              <a:t>Tools: RStudio, </a:t>
            </a:r>
            <a:r>
              <a:rPr lang="en-US" dirty="0" err="1"/>
              <a:t>tidyverse</a:t>
            </a:r>
            <a:r>
              <a:rPr lang="en-US" dirty="0"/>
              <a:t>, regressions, trend plots</a:t>
            </a:r>
          </a:p>
          <a:p>
            <a:endParaRPr lang="en-US" dirty="0"/>
          </a:p>
        </p:txBody>
      </p:sp>
    </p:spTree>
    <p:extLst>
      <p:ext uri="{BB962C8B-B14F-4D97-AF65-F5344CB8AC3E}">
        <p14:creationId xmlns:p14="http://schemas.microsoft.com/office/powerpoint/2010/main" val="1269598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B8B17-0D81-95AF-C7A2-4A4B52194D33}"/>
              </a:ext>
            </a:extLst>
          </p:cNvPr>
          <p:cNvSpPr>
            <a:spLocks noGrp="1"/>
          </p:cNvSpPr>
          <p:nvPr>
            <p:ph type="title"/>
          </p:nvPr>
        </p:nvSpPr>
        <p:spPr>
          <a:xfrm>
            <a:off x="1553137" y="1"/>
            <a:ext cx="10018713" cy="978310"/>
          </a:xfrm>
        </p:spPr>
        <p:txBody>
          <a:bodyPr/>
          <a:lstStyle/>
          <a:p>
            <a:r>
              <a:rPr lang="en-US" dirty="0"/>
              <a:t>US vs Global Suicide Trends by Year and Gender</a:t>
            </a:r>
          </a:p>
        </p:txBody>
      </p:sp>
      <p:pic>
        <p:nvPicPr>
          <p:cNvPr id="4" name="Picture 3" descr="A graph of different colored lines&#10;&#10;AI-generated content may be incorrect.">
            <a:extLst>
              <a:ext uri="{FF2B5EF4-FFF2-40B4-BE49-F238E27FC236}">
                <a16:creationId xmlns:a16="http://schemas.microsoft.com/office/drawing/2014/main" id="{E31E232E-B84D-580C-6985-A541889B6FA6}"/>
              </a:ext>
            </a:extLst>
          </p:cNvPr>
          <p:cNvPicPr>
            <a:picLocks noChangeAspect="1"/>
          </p:cNvPicPr>
          <p:nvPr/>
        </p:nvPicPr>
        <p:blipFill>
          <a:blip r:embed="rId3"/>
          <a:stretch>
            <a:fillRect/>
          </a:stretch>
        </p:blipFill>
        <p:spPr>
          <a:xfrm>
            <a:off x="2100415" y="1172496"/>
            <a:ext cx="7991169" cy="5199382"/>
          </a:xfrm>
          <a:prstGeom prst="rect">
            <a:avLst/>
          </a:prstGeom>
        </p:spPr>
      </p:pic>
    </p:spTree>
    <p:extLst>
      <p:ext uri="{BB962C8B-B14F-4D97-AF65-F5344CB8AC3E}">
        <p14:creationId xmlns:p14="http://schemas.microsoft.com/office/powerpoint/2010/main" val="77240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10298-A94A-B131-8C00-ED86CEE74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20F3C-055B-24FD-8A0E-0B5A7C731774}"/>
              </a:ext>
            </a:extLst>
          </p:cNvPr>
          <p:cNvSpPr>
            <a:spLocks noGrp="1"/>
          </p:cNvSpPr>
          <p:nvPr>
            <p:ph type="title"/>
          </p:nvPr>
        </p:nvSpPr>
        <p:spPr>
          <a:xfrm>
            <a:off x="1553137" y="1"/>
            <a:ext cx="10018713" cy="978310"/>
          </a:xfrm>
        </p:spPr>
        <p:txBody>
          <a:bodyPr>
            <a:normAutofit/>
          </a:bodyPr>
          <a:lstStyle/>
          <a:p>
            <a:r>
              <a:rPr lang="en-US" dirty="0"/>
              <a:t>Suicide Rate Trends Top 5 Countries vs US</a:t>
            </a:r>
          </a:p>
        </p:txBody>
      </p:sp>
      <p:pic>
        <p:nvPicPr>
          <p:cNvPr id="4" name="Picture 3">
            <a:extLst>
              <a:ext uri="{FF2B5EF4-FFF2-40B4-BE49-F238E27FC236}">
                <a16:creationId xmlns:a16="http://schemas.microsoft.com/office/drawing/2014/main" id="{2FACE952-1FBB-9EB1-169E-E6D3CBA5C3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226230" y="1255845"/>
            <a:ext cx="7739538" cy="5032684"/>
          </a:xfrm>
          <a:prstGeom prst="rect">
            <a:avLst/>
          </a:prstGeom>
        </p:spPr>
      </p:pic>
    </p:spTree>
    <p:extLst>
      <p:ext uri="{BB962C8B-B14F-4D97-AF65-F5344CB8AC3E}">
        <p14:creationId xmlns:p14="http://schemas.microsoft.com/office/powerpoint/2010/main" val="4233459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0585D-A694-3E92-4417-847FAB174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D4696-0BC5-17A7-0606-37B266FE6D0F}"/>
              </a:ext>
            </a:extLst>
          </p:cNvPr>
          <p:cNvSpPr>
            <a:spLocks noGrp="1"/>
          </p:cNvSpPr>
          <p:nvPr>
            <p:ph type="title"/>
          </p:nvPr>
        </p:nvSpPr>
        <p:spPr>
          <a:xfrm>
            <a:off x="1553137" y="1"/>
            <a:ext cx="10018713" cy="978310"/>
          </a:xfrm>
        </p:spPr>
        <p:txBody>
          <a:bodyPr>
            <a:normAutofit/>
          </a:bodyPr>
          <a:lstStyle/>
          <a:p>
            <a:r>
              <a:rPr lang="en-US" dirty="0"/>
              <a:t>Suicide Rate Trends by Age Group (US)</a:t>
            </a:r>
          </a:p>
        </p:txBody>
      </p:sp>
      <p:pic>
        <p:nvPicPr>
          <p:cNvPr id="4" name="Picture 3">
            <a:extLst>
              <a:ext uri="{FF2B5EF4-FFF2-40B4-BE49-F238E27FC236}">
                <a16:creationId xmlns:a16="http://schemas.microsoft.com/office/drawing/2014/main" id="{3BBE14DA-22BA-6077-7229-394B4413284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237873" y="1255845"/>
            <a:ext cx="7716251" cy="5032684"/>
          </a:xfrm>
          <a:prstGeom prst="rect">
            <a:avLst/>
          </a:prstGeom>
        </p:spPr>
      </p:pic>
    </p:spTree>
    <p:extLst>
      <p:ext uri="{BB962C8B-B14F-4D97-AF65-F5344CB8AC3E}">
        <p14:creationId xmlns:p14="http://schemas.microsoft.com/office/powerpoint/2010/main" val="248758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F87DD-3AB7-63EB-98C4-CB930C447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AD631-708B-D47A-E077-33B63F74A83D}"/>
              </a:ext>
            </a:extLst>
          </p:cNvPr>
          <p:cNvSpPr>
            <a:spLocks noGrp="1"/>
          </p:cNvSpPr>
          <p:nvPr>
            <p:ph type="title"/>
          </p:nvPr>
        </p:nvSpPr>
        <p:spPr>
          <a:xfrm>
            <a:off x="1514526" y="-196644"/>
            <a:ext cx="10018713" cy="978310"/>
          </a:xfrm>
        </p:spPr>
        <p:txBody>
          <a:bodyPr>
            <a:normAutofit/>
          </a:bodyPr>
          <a:lstStyle/>
          <a:p>
            <a:r>
              <a:rPr lang="en-US" dirty="0"/>
              <a:t>GDP and Suicide Rate</a:t>
            </a:r>
          </a:p>
        </p:txBody>
      </p:sp>
      <p:pic>
        <p:nvPicPr>
          <p:cNvPr id="4" name="Picture 3">
            <a:extLst>
              <a:ext uri="{FF2B5EF4-FFF2-40B4-BE49-F238E27FC236}">
                <a16:creationId xmlns:a16="http://schemas.microsoft.com/office/drawing/2014/main" id="{3A7A0C28-7E02-5DD5-954E-AFA61CEC5B9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704367" y="1711510"/>
            <a:ext cx="7716251" cy="4780118"/>
          </a:xfrm>
          <a:prstGeom prst="rect">
            <a:avLst/>
          </a:prstGeom>
        </p:spPr>
      </p:pic>
      <p:sp>
        <p:nvSpPr>
          <p:cNvPr id="3" name="TextBox 2">
            <a:extLst>
              <a:ext uri="{FF2B5EF4-FFF2-40B4-BE49-F238E27FC236}">
                <a16:creationId xmlns:a16="http://schemas.microsoft.com/office/drawing/2014/main" id="{1FB57323-19AB-7FB7-CC1E-8EFDA72B2F52}"/>
              </a:ext>
            </a:extLst>
          </p:cNvPr>
          <p:cNvSpPr txBox="1"/>
          <p:nvPr/>
        </p:nvSpPr>
        <p:spPr>
          <a:xfrm>
            <a:off x="1922206" y="693174"/>
            <a:ext cx="9611033" cy="1200329"/>
          </a:xfrm>
          <a:prstGeom prst="rect">
            <a:avLst/>
          </a:prstGeom>
          <a:noFill/>
        </p:spPr>
        <p:txBody>
          <a:bodyPr wrap="square" rtlCol="0">
            <a:spAutoFit/>
          </a:bodyPr>
          <a:lstStyle/>
          <a:p>
            <a:r>
              <a:rPr lang="en-US" dirty="0"/>
              <a:t>A multiple linear regression tested whether GDP per capita and year predicted suicide rates (per 100,000 people), including their interaction. The model was significant, </a:t>
            </a:r>
            <a:r>
              <a:rPr lang="en-US" i="1" dirty="0"/>
              <a:t>F</a:t>
            </a:r>
            <a:r>
              <a:rPr lang="en-US" dirty="0"/>
              <a:t>(3, 27816) = 44.59, </a:t>
            </a:r>
            <a:r>
              <a:rPr lang="en-US" i="1" dirty="0"/>
              <a:t>p</a:t>
            </a:r>
            <a:r>
              <a:rPr lang="en-US" dirty="0"/>
              <a:t> &lt; .001, with a small effect size (</a:t>
            </a:r>
            <a:r>
              <a:rPr lang="en-US" i="1" dirty="0"/>
              <a:t>R²</a:t>
            </a:r>
            <a:r>
              <a:rPr lang="en-US" dirty="0"/>
              <a:t> = .0048).</a:t>
            </a:r>
          </a:p>
          <a:p>
            <a:endParaRPr lang="en-US" dirty="0"/>
          </a:p>
        </p:txBody>
      </p:sp>
    </p:spTree>
    <p:extLst>
      <p:ext uri="{BB962C8B-B14F-4D97-AF65-F5344CB8AC3E}">
        <p14:creationId xmlns:p14="http://schemas.microsoft.com/office/powerpoint/2010/main" val="2669417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F6D77-9A24-3D32-8FAE-FBFC31EE3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D0A294-2D42-4700-3033-0155A57F8C2D}"/>
              </a:ext>
            </a:extLst>
          </p:cNvPr>
          <p:cNvSpPr>
            <a:spLocks noGrp="1"/>
          </p:cNvSpPr>
          <p:nvPr>
            <p:ph type="title"/>
          </p:nvPr>
        </p:nvSpPr>
        <p:spPr>
          <a:xfrm>
            <a:off x="1396181" y="-196644"/>
            <a:ext cx="10387779" cy="978310"/>
          </a:xfrm>
        </p:spPr>
        <p:txBody>
          <a:bodyPr>
            <a:normAutofit fontScale="90000"/>
          </a:bodyPr>
          <a:lstStyle/>
          <a:p>
            <a:pPr lvl="0"/>
            <a:r>
              <a:rPr lang="en-US" b="1" dirty="0"/>
              <a:t>Human Development Index (HDI) and Suicide Rate</a:t>
            </a:r>
            <a:endParaRPr lang="en-US" dirty="0"/>
          </a:p>
        </p:txBody>
      </p:sp>
      <p:pic>
        <p:nvPicPr>
          <p:cNvPr id="4" name="Picture 3">
            <a:extLst>
              <a:ext uri="{FF2B5EF4-FFF2-40B4-BE49-F238E27FC236}">
                <a16:creationId xmlns:a16="http://schemas.microsoft.com/office/drawing/2014/main" id="{754479F3-76B7-67BA-1200-4E353ECDD4D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704367" y="1735252"/>
            <a:ext cx="7716251" cy="4732634"/>
          </a:xfrm>
          <a:prstGeom prst="rect">
            <a:avLst/>
          </a:prstGeom>
        </p:spPr>
      </p:pic>
      <p:sp>
        <p:nvSpPr>
          <p:cNvPr id="3" name="TextBox 2">
            <a:extLst>
              <a:ext uri="{FF2B5EF4-FFF2-40B4-BE49-F238E27FC236}">
                <a16:creationId xmlns:a16="http://schemas.microsoft.com/office/drawing/2014/main" id="{81135CCB-D5FD-75CE-3785-F9A6DA17B256}"/>
              </a:ext>
            </a:extLst>
          </p:cNvPr>
          <p:cNvSpPr txBox="1"/>
          <p:nvPr/>
        </p:nvSpPr>
        <p:spPr>
          <a:xfrm>
            <a:off x="1922206" y="693174"/>
            <a:ext cx="9611033" cy="1200329"/>
          </a:xfrm>
          <a:prstGeom prst="rect">
            <a:avLst/>
          </a:prstGeom>
          <a:noFill/>
        </p:spPr>
        <p:txBody>
          <a:bodyPr wrap="square" rtlCol="0">
            <a:spAutoFit/>
          </a:bodyPr>
          <a:lstStyle/>
          <a:p>
            <a:pPr lvl="0"/>
            <a:r>
              <a:rPr lang="en-US" dirty="0"/>
              <a:t>A linear regression was conducted to examine the association between Human Development Index (HDI), year, and their interaction on suicide rates. The overall model was significant, </a:t>
            </a:r>
            <a:r>
              <a:rPr lang="en-US" i="1" dirty="0"/>
              <a:t>F</a:t>
            </a:r>
            <a:r>
              <a:rPr lang="en-US" dirty="0"/>
              <a:t>(3, 8360) = 53.23, </a:t>
            </a:r>
            <a:r>
              <a:rPr lang="en-US" i="1" dirty="0"/>
              <a:t>p</a:t>
            </a:r>
            <a:r>
              <a:rPr lang="en-US" dirty="0"/>
              <a:t> &lt; .001, with an adjusted R² = .018.</a:t>
            </a:r>
          </a:p>
          <a:p>
            <a:endParaRPr lang="en-US" dirty="0"/>
          </a:p>
        </p:txBody>
      </p:sp>
    </p:spTree>
    <p:extLst>
      <p:ext uri="{BB962C8B-B14F-4D97-AF65-F5344CB8AC3E}">
        <p14:creationId xmlns:p14="http://schemas.microsoft.com/office/powerpoint/2010/main" val="1817320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B57BF-DC06-8C4A-7950-FEEE3E2D46C2}"/>
              </a:ext>
            </a:extLst>
          </p:cNvPr>
          <p:cNvSpPr>
            <a:spLocks noGrp="1"/>
          </p:cNvSpPr>
          <p:nvPr>
            <p:ph type="title"/>
          </p:nvPr>
        </p:nvSpPr>
        <p:spPr/>
        <p:txBody>
          <a:bodyPr/>
          <a:lstStyle/>
          <a:p>
            <a:r>
              <a:rPr lang="en-US" dirty="0"/>
              <a:t>Conclusions and Recommendations</a:t>
            </a:r>
          </a:p>
        </p:txBody>
      </p:sp>
      <p:sp>
        <p:nvSpPr>
          <p:cNvPr id="3" name="Content Placeholder 2">
            <a:extLst>
              <a:ext uri="{FF2B5EF4-FFF2-40B4-BE49-F238E27FC236}">
                <a16:creationId xmlns:a16="http://schemas.microsoft.com/office/drawing/2014/main" id="{6F611835-8480-F1A1-74CF-F6123E83D98E}"/>
              </a:ext>
            </a:extLst>
          </p:cNvPr>
          <p:cNvSpPr>
            <a:spLocks noGrp="1"/>
          </p:cNvSpPr>
          <p:nvPr>
            <p:ph idx="1"/>
          </p:nvPr>
        </p:nvSpPr>
        <p:spPr/>
        <p:txBody>
          <a:bodyPr/>
          <a:lstStyle/>
          <a:p>
            <a:r>
              <a:rPr lang="en-US" dirty="0"/>
              <a:t>Neither GDP or HDI emerged as strong predictors of suicide rates globally, reflecting the multi-determined nature of suicide</a:t>
            </a:r>
          </a:p>
          <a:p>
            <a:r>
              <a:rPr lang="en-US" dirty="0"/>
              <a:t>This reinforces the need for multi-level, interdisciplinary approaches</a:t>
            </a:r>
          </a:p>
          <a:p>
            <a:endParaRPr lang="en-US" dirty="0"/>
          </a:p>
        </p:txBody>
      </p:sp>
    </p:spTree>
    <p:extLst>
      <p:ext uri="{BB962C8B-B14F-4D97-AF65-F5344CB8AC3E}">
        <p14:creationId xmlns:p14="http://schemas.microsoft.com/office/powerpoint/2010/main" val="2226140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47B0B-CFE7-1737-EDCF-49ECB21C8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863E6D-6490-3C5D-1BA9-9D5B1D33A0C6}"/>
              </a:ext>
            </a:extLst>
          </p:cNvPr>
          <p:cNvSpPr>
            <a:spLocks noGrp="1"/>
          </p:cNvSpPr>
          <p:nvPr>
            <p:ph type="title"/>
          </p:nvPr>
        </p:nvSpPr>
        <p:spPr>
          <a:xfrm>
            <a:off x="1553137" y="1"/>
            <a:ext cx="10018713" cy="978310"/>
          </a:xfrm>
        </p:spPr>
        <p:txBody>
          <a:bodyPr>
            <a:normAutofit fontScale="90000"/>
          </a:bodyPr>
          <a:lstStyle/>
          <a:p>
            <a:r>
              <a:rPr lang="en-US" dirty="0"/>
              <a:t>Suicide Rate Trends Across All Countries (1985-2015)</a:t>
            </a:r>
          </a:p>
        </p:txBody>
      </p:sp>
      <p:pic>
        <p:nvPicPr>
          <p:cNvPr id="4" name="Picture 3">
            <a:extLst>
              <a:ext uri="{FF2B5EF4-FFF2-40B4-BE49-F238E27FC236}">
                <a16:creationId xmlns:a16="http://schemas.microsoft.com/office/drawing/2014/main" id="{8AA74546-01F8-F638-413A-D40A508FCBC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226230" y="1172496"/>
            <a:ext cx="7739538" cy="5199382"/>
          </a:xfrm>
          <a:prstGeom prst="rect">
            <a:avLst/>
          </a:prstGeom>
        </p:spPr>
      </p:pic>
    </p:spTree>
    <p:extLst>
      <p:ext uri="{BB962C8B-B14F-4D97-AF65-F5344CB8AC3E}">
        <p14:creationId xmlns:p14="http://schemas.microsoft.com/office/powerpoint/2010/main" val="36767165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TM03457496[[fn=Parallax]]</Template>
  <TotalTime>108</TotalTime>
  <Words>1245</Words>
  <Application>Microsoft Office PowerPoint</Application>
  <PresentationFormat>Widescreen</PresentationFormat>
  <Paragraphs>50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Arial</vt:lpstr>
      <vt:lpstr>Corbel</vt:lpstr>
      <vt:lpstr>Parallax</vt:lpstr>
      <vt:lpstr>Understanding Suicide Through Global Data (1985–2016): Trends Across Time, Age, and Development</vt:lpstr>
      <vt:lpstr>Introduction </vt:lpstr>
      <vt:lpstr>Methodology</vt:lpstr>
      <vt:lpstr>US vs Global Suicide Trends by Year and Gender</vt:lpstr>
      <vt:lpstr>Suicide Rate Trends Top 5 Countries vs US</vt:lpstr>
      <vt:lpstr>Suicide Rate Trends by Age Group (US)</vt:lpstr>
      <vt:lpstr>GDP and Suicide Rate</vt:lpstr>
      <vt:lpstr>Human Development Index (HDI) and Suicide Rate</vt:lpstr>
      <vt:lpstr>Conclusions and Recommendations</vt:lpstr>
      <vt:lpstr>Suicide Rate Trends Across All Countries (1985-2015)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Ekman</dc:creator>
  <cp:lastModifiedBy>Eric Ekman</cp:lastModifiedBy>
  <cp:revision>1</cp:revision>
  <dcterms:created xsi:type="dcterms:W3CDTF">2025-11-24T14:44:57Z</dcterms:created>
  <dcterms:modified xsi:type="dcterms:W3CDTF">2025-12-02T22:29:41Z</dcterms:modified>
</cp:coreProperties>
</file>